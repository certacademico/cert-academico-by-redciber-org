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REDCIBER  ×  CERT ACADÉMICO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692640" y="685800"/>
            <a:ext cx="1371600" cy="13716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8229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68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Ofensiva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9D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nuevo paradigma del Insider en Gobierno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5074920"/>
            <a:ext cx="502920" cy="36576"/>
          </a:xfrm>
          <a:prstGeom prst="rect">
            <a:avLst/>
          </a:prstGeom>
          <a:solidFill>
            <a:srgbClr val="C81E3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de 45 minutos · Dirigido a Ministerios de Hacienda y Finanzas Públicas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agnóstico de proveedor y de jurisdicción — principios aplicables a cualquier gobierno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· 1/6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Quiénes presentan esta sesión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1017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RedCiber.org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63040" y="2423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hispanohablante de ciberseguridad enfocada en investigación de amenazas, formación técnica y divulgación aplicada al sector público y privado.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10172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Académico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223760" y="24231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formación continua en ciberseguridad e IA — rutas de aprendizaje, evaluaciones aplicadas y programas de posgrado para equipos técnicos y directivos.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0233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EF1F7"/>
          </a:solidFill>
          <a:ln/>
        </p:spPr>
      </p:sp>
      <p:sp>
        <p:nvSpPr>
          <p:cNvPr id="13" name="Text 9"/>
          <p:cNvSpPr/>
          <p:nvPr/>
        </p:nvSpPr>
        <p:spPr>
          <a:xfrm>
            <a:off x="960120" y="425196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independencia.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sesión no promueve ni evalúa productos comerciales de IA. El objetivo es transferir criterio de riesgo y marcos de referencia oficiales, aplicables sin importar el proveedor de tecnología o el marco legal del país.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· 2/6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45 minutos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87452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0" y="187452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charla, por qué ahora, por qué Hacienda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0" y="18745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8775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74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58775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paradigma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2587752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insider humano al insider aumentado por 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0" y="258775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00984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0098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330098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y cifras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60720" y="330098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confianza se convierte en vector de ataque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0" y="330098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014216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1421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74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401421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terreno de Hacienda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760720" y="4014216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Pagos, impuestos y adquisiciones bajo la lupa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72800" y="401421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8′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72744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2744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54480" y="472744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oficiales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760720" y="472744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están haciendo los organismos de referencia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72800" y="472744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8′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44068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4406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74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54480" y="544068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60720" y="544068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concretas y agnósticas de proveedor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972800" y="54406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8′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· 3/6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 ya está en la agenda de sus pares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Ministerios de Hacienda concentran exactamente lo que la IA ofensiva ataca: autorización de pagos de alto valor, verificación de identidad y cadenas de confianza jerárquica.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6400800" cy="2103120"/>
          </a:xfrm>
          <a:prstGeom prst="roundRect">
            <a:avLst>
              <a:gd name="adj" fmla="val 4348"/>
            </a:avLst>
          </a:prstGeom>
          <a:solidFill>
            <a:srgbClr val="E1F0E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11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 ya se discute a nivel de Ministros de Finanzas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julio de 2025, la OCDE y la Autoridad de Conducta del Sector Financiero de Sudáfrica copresidieron una Mesa Redonda del G20 sobre "Inteligencia Artificial en las Finanzas", durante la reunión de Ministros de Finanzas y Gobernadores de Bancos Centrales del G20.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0" y="1828800"/>
            <a:ext cx="3291840" cy="3291840"/>
          </a:xfrm>
          <a:prstGeom prst="ellipse">
            <a:avLst/>
          </a:prstGeom>
          <a:solidFill>
            <a:srgbClr val="10172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606040"/>
            <a:ext cx="1737360" cy="1737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580644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8064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OCDE — G20 Roundtable on Artificial Intelligence in Finance, jul. 2025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PARADIGMA · 1/5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entendemos por "IA ofensiva"?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1F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574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inteligencia artificial generativa o agéntica para ejecutar, escalar o automatizar fases de un ataque: ingeniería social, suplantación de identidad, generación de contenido fraudulento o manipulación de sistemas y flujos de decisión.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5285232" cy="502920"/>
          </a:xfrm>
          <a:prstGeom prst="roundRect">
            <a:avLst>
              <a:gd name="adj" fmla="val 36364"/>
            </a:avLst>
          </a:prstGeom>
          <a:solidFill>
            <a:srgbClr val="FCE8E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4904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identidad sintética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6208" y="3749040"/>
            <a:ext cx="5285232" cy="502920"/>
          </a:xfrm>
          <a:prstGeom prst="roundRect">
            <a:avLst>
              <a:gd name="adj" fmla="val 36364"/>
            </a:avLst>
          </a:prstGeom>
          <a:solidFill>
            <a:srgbClr val="FCE8EA"/>
          </a:solidFill>
          <a:ln/>
        </p:spPr>
      </p:sp>
      <p:sp>
        <p:nvSpPr>
          <p:cNvPr id="9" name="Text 7"/>
          <p:cNvSpPr/>
          <p:nvPr/>
        </p:nvSpPr>
        <p:spPr>
          <a:xfrm>
            <a:off x="6236208" y="374904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ingeniería social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453128"/>
            <a:ext cx="5285232" cy="502920"/>
          </a:xfrm>
          <a:prstGeom prst="roundRect">
            <a:avLst>
              <a:gd name="adj" fmla="val 36364"/>
            </a:avLst>
          </a:prstGeom>
          <a:solidFill>
            <a:srgbClr val="FCE8E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53128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 acceso a sistemas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4453128"/>
            <a:ext cx="5285232" cy="502920"/>
          </a:xfrm>
          <a:prstGeom prst="roundRect">
            <a:avLst>
              <a:gd name="adj" fmla="val 36364"/>
            </a:avLst>
          </a:prstGeom>
          <a:solidFill>
            <a:srgbClr val="FCE8EA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4453128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a bajo costo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983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de un producto ni de un proveedor: es un conjunto de capacidades disponibles cada vez con menor costo y menor habilidad técnica requerida.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PARADIGMA · 2/5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paradigma clásico: el "Insider Threat"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77240" cy="777240"/>
          </a:xfrm>
          <a:prstGeom prst="ellipse">
            <a:avLst/>
          </a:prstGeom>
          <a:solidFill>
            <a:srgbClr val="1017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202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tradicional, formalizado por centros como el Insider Threat Center del SEI en Carnegie Mellon (la cuna del propio concepto "CERT"), define al insider por tres elementos: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EEF1F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de confianza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703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legítimo otorgado por la organización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30632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EEF1F7"/>
          </a:solidFill>
          <a:ln/>
        </p:spPr>
      </p:sp>
      <p:sp>
        <p:nvSpPr>
          <p:cNvPr id="11" name="Text 8"/>
          <p:cNvSpPr/>
          <p:nvPr/>
        </p:nvSpPr>
        <p:spPr>
          <a:xfrm>
            <a:off x="461772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sistemas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617720" y="3703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Privilegios reales sobre información o procesos críticos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30632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EEF1F7"/>
          </a:solidFill>
          <a:ln/>
        </p:spPr>
      </p:sp>
      <p:sp>
        <p:nvSpPr>
          <p:cNvPr id="14" name="Text 11"/>
          <p:cNvSpPr/>
          <p:nvPr/>
        </p:nvSpPr>
        <p:spPr>
          <a:xfrm>
            <a:off x="832104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o error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321040" y="3703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intencional, negligente o accidental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5074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modelo sigue vigente — pero la IA generativa y agéntica introduce dos formas nuevas de cumplir esos tres elementos sin ser, en el sentido clásico, "de la casa".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PARADIGMA · 3/5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vías nuevas hacia "ser insider"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1B254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06040"/>
            <a:ext cx="731520" cy="731520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743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3246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externo que se hace pasar por insider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4297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de voz y video explotan la confianza jerárquica: el atacante no roba una credencial, roba una identidad completa.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1B2540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606040"/>
            <a:ext cx="731520" cy="73152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43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83680" y="3246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agente de IA que se convierte en insider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583680" y="4297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Copilotos y agentes con credenciales y acceso a sistemas financieros son, funcionalmente, un nuevo tipo de insider no humano.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PARADIGMA · 4/5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Vía 1 — El impostor perfecto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85800" cy="685800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7452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video o una llamada con voz clonada ya alcanza el estándar de "verificación" que muchas organizaciones usan hoy para autorizar transferencias de alto valor.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81E3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5880" y="3227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31920" y="32278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públicos, voz y video de directivos reales (redes, entrevistas, juntas)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9593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81E3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25880" y="39410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931920" y="39410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voz e imagen en tiempo real o pregrabada, indistinguible a simple vista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67258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81E3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672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25880" y="46542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Explotación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931920" y="46542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 urgente de un "superior" para mover fondos o compartir credenciales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PARADIGMA · 5/5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Vía 2 — El insider no humano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85800" cy="685800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2880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de IA con credenciales propias, acceso a bases de datos financieras y capacidad de ejecutar acciones es, en la práctica, un empleado que nunca duerme, nunca cuestiona y puede ser manipulado.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EEF1F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CISA de Amenaza Interna (2026)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una nueva "dimensión de seguridad de IA": insiders que envenenan datos de entrenamiento, alteran modelos o exponen información sensible mediante herramientas de IA no aprobadas.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32461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EEF1F7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Agentic AI (2026)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37960" y="384048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ASI03 — Abuso de Identidad y Privilegios es la falla más reportada en encuestas empresariales de agentes de IA 2025-2026. Principio rector: "mínima agencia", el equivalente al mínimo privilegio.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580644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FCE8EA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8064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CISA, Insider Threat Mitigation Guide (act. 2026) · OWASP GenAI Security Project, Top 10 for Agentic Applications 2026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Y CIFRAS · 1/4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que cambió la conversación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1017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25.6M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transferidos en 15 operaciones, autorizadas en una sola videollamada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Arup · Hong Kong · enero 2024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colaborador de finanzas de la firma de ingeniería Arup recibió una videollamada de quien parecía ser el director financiero, junto a varios colegas — en tiempo real.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0" y="3154680"/>
            <a:ext cx="6492240" cy="1005840"/>
          </a:xfrm>
          <a:prstGeom prst="roundRect">
            <a:avLst>
              <a:gd name="adj" fmla="val 9091"/>
            </a:avLst>
          </a:prstGeom>
          <a:solidFill>
            <a:srgbClr val="FCE8E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1546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en esa llamada — excepto la víctima — era generada por IA.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443484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hubo malware, ni phishing de correo, ni una contraseña robada. El único punto de falla fue la confianza depositada en rostros y voces familiares.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0" y="5623560"/>
            <a:ext cx="6492240" cy="384048"/>
          </a:xfrm>
          <a:prstGeom prst="roundRect">
            <a:avLst>
              <a:gd name="adj" fmla="val 19048"/>
            </a:avLst>
          </a:prstGeom>
          <a:solidFill>
            <a:srgbClr val="FCE8EA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562356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documentado en reportes de aseguradoras y medios de ciberseguridad, 2024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Y CIFRAS · 2/4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fue un caso aislado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EEF1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mar. 2025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director financiero autorizó una transferencia tras una videollamada de "liderazgo" — todos los rostros y voces eran sintéticos.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EEF1F7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ene. 2026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serie de llamadas de voz clonada, haciéndose pasar por un socio comercial de confianza, precedió una transferencia de varios millones.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EEF1F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Norteamérica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2104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1040" y="306324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videollamada con un "CEO" sintético movió fondos en el curso de una sola tarde, con instrucciones de urgencia y confidencialidad.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FCE8E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406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reportados en medios y firmas de ciberseguridad especializadas, 2025-2026 — cifras exactas varían según la fuente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Y CIFRAS · 3/4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escala del 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B25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+1,600%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del vishing con deepfake, EE.UU., T1 2025 vs. T4 2024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B2540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 → 40%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17720" y="36576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 deepfakes en incidentes de compromiso de correo corporativo (BEC), 2023 → T1 2026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40B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21040" y="36576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pérdidas anuales por fraude con IA en EE.UU. para 2027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reportes del sector (firmas de ciberseguridad y consultoría), no de una fuente oficial única — se presentan como indicador de tendencia, no como estadística gubernamental.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Y CIFRAS · 4/4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primera alerta oficial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85800" cy="68580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20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FIN-2024-Alert004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Alerta de la Red de Control de Delitos Financieros de EE.UU. (FinCEN), 13 de noviembre de 2024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1F0EF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8346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 y documentos sintéticos generados con IA para abrir cuentas y eludir controles de verificación (KYC)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76732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1F0EF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7673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 de ejecutivos y socios de confianza para autorizar transferencias fraudulentas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70001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1F0EF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700016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 autenticación resistente a phishing y verificación en vivo como controles clave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571500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FinCEN, Alert FIN-2024-Alert004, 13 nov. 2024 (fincen.gov)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TERRENO DE HACIENDA · 1/5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frentes bajo la lupa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B254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51760"/>
            <a:ext cx="685800" cy="685800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788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Pagos y tesorería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de transferencias de alto valor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B2540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651760"/>
            <a:ext cx="685800" cy="685800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7889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Impuestos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 de autoridades tributarias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B2540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651760"/>
            <a:ext cx="685800" cy="685800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7889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Adquisiciones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indebidos y fraude de proveedores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TERRENO DE HACIENDA · 2/5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1 — Pagos y tesorería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autorización de transferencias de alto valor es, exactamente, el vector explotado en los casos vistos: una instrucción verbal o audiovisual de una figura de autoridad.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6583680" cy="2651760"/>
          </a:xfrm>
          <a:prstGeom prst="roundRect">
            <a:avLst>
              <a:gd name="adj" fmla="val 3448"/>
            </a:avLst>
          </a:prstGeom>
          <a:solidFill>
            <a:srgbClr val="FCE8E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383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diagnóstico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controla hoy una transferencia de tesorería si la "verificación" es una llamada o video con la voz y el rostro correctos? ¿Existe un segundo canal, independiente del primero, que sea obligatorio?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2286000"/>
            <a:ext cx="3017520" cy="3017520"/>
          </a:xfrm>
          <a:prstGeom prst="ellipse">
            <a:avLst/>
          </a:prstGeom>
          <a:solidFill>
            <a:srgbClr val="10172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3017520"/>
            <a:ext cx="1554480" cy="1554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TERRENO DE HACIENDA · 3/5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2 — Impuestos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generativa escala la suplantación de autoridades tributarias: comunicaciones hiperrealistas que imitan el tono y formato oficial para extraer datos personales y bancarios.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257800" cy="2423160"/>
          </a:xfrm>
          <a:prstGeom prst="roundRect">
            <a:avLst>
              <a:gd name="adj" fmla="val 3774"/>
            </a:avLst>
          </a:prstGeom>
          <a:solidFill>
            <a:srgbClr val="EEF1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461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+111%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interanual del fraude fiscal identificado por investigaciones criminales del IRS, EE.UU. (año fiscal 2025)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3063240"/>
            <a:ext cx="5257800" cy="2423160"/>
          </a:xfrm>
          <a:prstGeom prst="roundRect">
            <a:avLst>
              <a:gd name="adj" fmla="val 3774"/>
            </a:avLst>
          </a:prstGeom>
          <a:solidFill>
            <a:srgbClr val="EEF1F7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32461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10.59B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37960" y="41148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delitos financieros identificados por IRS Criminal Investigation en el año fiscal 2025 — un alza del 15.7% interanual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71500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Criminal Investigation, Annual Report FY2025 (irs.gov)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TERRENO DE HACIENDA · 4/5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3 — Adquisiciones y pagos indebidos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743200" cy="2743200"/>
          </a:xfrm>
          <a:prstGeom prst="ellipse">
            <a:avLst/>
          </a:prstGeom>
          <a:solidFill>
            <a:srgbClr val="1017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6517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49040" y="2148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186B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3749040" y="32004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pagos indebidos emitidos por el gobierno federal de EE.UU. durante el año fiscal 2025 — el universo exacto de fraude que las cadenas de aprobación automatizadas y los agentes de IA con acceso a sistemas de pago pueden ampliar si no se gobiernan con cuidado.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571500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FCE8E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de pagos indebidos del gobierno federal de EE.UU., año fiscal 2025 — reportado por el Departamento del Tesoro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TERRENO DE HACIENDA · 5/5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misma tecnología que ataca, defiende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2747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4B+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prevenidos y recuperados por el Departamento del Tesoro de EE.UU. en el año fiscal 2024, mediante procesos mejorados de detección de fraude con aprendizaje automático.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210312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tipo de tecnología —modelos que reconocen patrones a gran escala— está en ambos lados de esta ecuación. La diferencia no es la herramienta: es la gobernanza, los controles y la verificación humana en los puntos críticos.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71500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the Treasury, comunicado de prensa, "Enhanced Fraud Detection Processes" (home.treasury.gov)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B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OFICIALES DE RESPUESTA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 ya está en la agenda de gobierno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referencias oficiales e internacionales que ya enmarcan este problema — ninguna atada a un proveedor de tecnología específico.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1B25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632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306324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1B2540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30632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0" y="306324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1B254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30632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Eyes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1B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976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MITRE ATLAS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43400" y="429768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1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42976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0" y="429768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1B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42976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OCDE / G20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OFICIALES · 2/7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961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135331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de Ciberseguridad e Infraestructura de EE.UU.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de Mitigación de Amenaza Interna (actualización 2026)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una "dimensión de seguridad de IA": insiders que envenenan datos, alteran modelos o exponen información vía herramientas no aprobadas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que actores externos usan phishing generado por IA, deepfakes e identidades sintéticas para manipular al personal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754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 equipos de gestión de amenaza interna multidisciplinarios: seguridad física, ciberseguridad y recursos humanos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76072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7607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CISA, Insider Threat Mitigation Guide, actualización 2026 (cisa.gov)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OFICIALES · 3/7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961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135331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Nacional de Estándares y Tecnología de EE.UU.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Risk Management Framework + Perfil de IA Generativa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voluntario, agnóstico de sector y de proveedor, para gestionar riesgo de sistemas de IA a lo largo de su ciclo de vida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de IA Generativa (NIST AI 600-1) atiende riesgos específicos de modelos de lenguaje y sistemas multimodales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754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Referenciado por reguladores sectoriales como guía de buenas prácticas, más allá de exigencias legales específicas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76072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7607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NIST, AI Risk Management Framework y AI 600-1 (nist.gov)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OFICIALES · 4/7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961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Eyes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135331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CISA, NSA y agencias de Australia, Canadá, Nueva Zelanda y Reino Unido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"Careful Adoption of Agentic AI Services" (mayo 2026)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conjunta de seis agencias de ciberseguridad nacionales sobre adopción responsable de agentes de IA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Enfatiza gobernanza de identidad y privilegios para agentes con acceso a sistemas críticos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754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cooperación internacional — el problema no se resuelve dentro de una sola jurisdicción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76072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7607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/ NSA y agencias asociadas, "Careful Adoption of Agentic AI Services", 1 may. 2026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OFICIALES · 5/7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961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MITRE ATLAS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135331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Threat Landscape for Artificial-Intelligence Systems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mapa de tácticas y técnicas contra sistemas de IA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conocimiento pública, modelada sobre MITRE ATT&amp;CK, para amenazas específicas a sistemas de IA/ML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5.1.0 (nov. 2025): 16 tácticas, 84 técnicas, 56 subtécnicas, 32 mitigaciones y 42 casos reales documentados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754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expansión suma técnicas de IA generativa: envenenamiento de RAG, inyección de prompts y compromiso de cadena de suministro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76072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7607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ATLAS, v5.1.0, nov. 2025 (atlas.mitre.org)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OFICIALES · 6/7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961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135331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Worldwide Application Security Project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para Aplicaciones Agénticas 2026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el 9 de diciembre de 2025 con la colaboración de más de 100 expertos y practicantes de la industria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ASI03 — Abuso de Identidad y Privilegios es la falla más consistentemente reportada en encuestas empresariales 2025-2026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754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rector: "mínima agencia" — la autonomía del agente debe limitarse a lo estrictamente necesario para su tarea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76072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7607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GenAI Security Project, Top 10 for Agentic Applications 2026 (genai.owasp.org)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OFICIALES · 7/7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961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OCDE / G20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135331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para la Cooperación y el Desarrollo Económicos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Gobernanza de IA en el sector público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"Governing with Artificial Intelligence in Government" (2025): tres pilares — habilitadores, salvaguardas y participación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Redonda del G20 sobre IA en las Finanzas (jul. 2025), durante la reunión de Ministros de Finanzas y Bancos Centrales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1F0EF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754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referencia adoptado por G7, G20 y Naciones Unidas — con membresía de múltiples países de habla hispana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76072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7607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OCDE, "Governing with AI in Government" (2025) · G20 Roundtable on AI in Finance, jul. 2025 (oecd.org)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· 1/5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líneas de acción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depende de un producto o proveedor específico — son principios de gobernanza aplicables con el presupuesto y la estructura de cualquier ministerio.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578608" cy="2606040"/>
          </a:xfrm>
          <a:prstGeom prst="roundRect">
            <a:avLst>
              <a:gd name="adj" fmla="val 3546"/>
            </a:avLst>
          </a:prstGeom>
          <a:solidFill>
            <a:srgbClr val="EEF1F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154680"/>
            <a:ext cx="566928" cy="566928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2918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24328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393192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fuera de banda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438144" y="2926080"/>
            <a:ext cx="2578608" cy="2606040"/>
          </a:xfrm>
          <a:prstGeom prst="roundRect">
            <a:avLst>
              <a:gd name="adj" fmla="val 3546"/>
            </a:avLst>
          </a:prstGeom>
          <a:solidFill>
            <a:srgbClr val="EEF1F7"/>
          </a:solidFill>
          <a:ln/>
        </p:spPr>
      </p:sp>
      <p:sp>
        <p:nvSpPr>
          <p:cNvPr id="11" name="Shape 8"/>
          <p:cNvSpPr/>
          <p:nvPr/>
        </p:nvSpPr>
        <p:spPr>
          <a:xfrm>
            <a:off x="3666744" y="3154680"/>
            <a:ext cx="566928" cy="566928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32918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2392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666744" y="393192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agencia para IA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36208" y="2926080"/>
            <a:ext cx="2578608" cy="2606040"/>
          </a:xfrm>
          <a:prstGeom prst="roundRect">
            <a:avLst>
              <a:gd name="adj" fmla="val 3546"/>
            </a:avLst>
          </a:prstGeom>
          <a:solidFill>
            <a:srgbClr val="EEF1F7"/>
          </a:solidFill>
          <a:ln/>
        </p:spPr>
      </p:sp>
      <p:sp>
        <p:nvSpPr>
          <p:cNvPr id="16" name="Shape 12"/>
          <p:cNvSpPr/>
          <p:nvPr/>
        </p:nvSpPr>
        <p:spPr>
          <a:xfrm>
            <a:off x="6464808" y="3154680"/>
            <a:ext cx="566928" cy="566928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2918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0456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464808" y="393192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 interna actualizada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9034272" y="2926080"/>
            <a:ext cx="2578608" cy="2606040"/>
          </a:xfrm>
          <a:prstGeom prst="roundRect">
            <a:avLst>
              <a:gd name="adj" fmla="val 3546"/>
            </a:avLst>
          </a:prstGeom>
          <a:solidFill>
            <a:srgbClr val="EEF1F7"/>
          </a:solidFill>
          <a:ln/>
        </p:spPr>
      </p:sp>
      <p:sp>
        <p:nvSpPr>
          <p:cNvPr id="21" name="Shape 16"/>
          <p:cNvSpPr/>
          <p:nvPr/>
        </p:nvSpPr>
        <p:spPr>
          <a:xfrm>
            <a:off x="9262872" y="3154680"/>
            <a:ext cx="566928" cy="566928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32918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018520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262872" y="393192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Shadow AI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· 2/5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00200" y="12801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fuera de banda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CE8E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2860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autorización financiera de alto valor debe depender de un único canal audiovisual.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instrucción de transferencia, cambio de cuenta destino o excepción de proceso —sin importar cuán convincente sea la llamada o el video— debe confirmarse por un segundo canal independiente y preestablecido (p. ej., un sistema interno, no un número de teléfono provisto en la misma comunicación). Es la aplicación práctica de un principio de Confianza Cero frente a una identidad que ya no es verificable a simple vista.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· 3/5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00200" y="12801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"Mínima agencia" para IA agéntica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CE8E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2860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autonomía de un agente de IA debe ser la mínima necesaria para su tarea, nunca un valor por defecto.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agente o copiloto con acceso a sistemas financieros necesita: un inventario de sus permisos, límites explícitos de qué puede ejecutar sin supervisión humana, y registro auditable de sus acciones. Este es el principio "Least Agency" que promueve el marco OWASP para aplicaciones agénticas — el equivalente al mínimo privilegio, aplicado a un actor no humano.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571500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GenAI Security Project, Top 10 for Agentic Applications 2026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· 4/5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00200" y="12801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Actualizar el programa de amenaza interna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CE8E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2860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de amenaza interna que no contempla IA está incompleto desde 2026.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explícitamente los dos vectores vistos hoy: identidad sintética explotando la confianza jerárquica, y agentes/herramientas de IA con acceso a datos o sistemas sensibles. La guía actualizada de CISA ofrece una estructura de referencia lista para adaptar, sin costo, a cualquier institución pública.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571500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1F0E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CISA, Insider Threat Mitigation Guide, actualización 2026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· 5/5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C81E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00200" y="12801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Visibilidad y política de "Shadow AI"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CE8E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2860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gobernar lo que no se puede ver — y hoy, la mayoría del uso de IA en las organizaciones es invisible para TI.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inventario de herramientas de IA en uso (aprobadas y no aprobadas), una política clara sobre qué información nunca debe ingresarse a una herramienta externa, y un canal simple para que el personal declare qué está usando —sin miedo a sanción— reducen drásticamente la superficie de fuga de datos sensibles del ministerio.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005840" cy="100584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144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574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nueva definición de "insider"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333756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9D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no basta con preguntar quién tiene una credencial. Hay que preguntar qué —o quién— puede parecer suficientemente confiable, humano o no, para actuar como si la tuviera.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4892040"/>
            <a:ext cx="502920" cy="36576"/>
          </a:xfrm>
          <a:prstGeom prst="rect">
            <a:avLst/>
          </a:prstGeom>
          <a:solidFill>
            <a:srgbClr val="C81E3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 RedCiber.org  ×  CERT Académico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532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discusión abierta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· 1/2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oficiales e institucionales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FinCEN (Tesoro de EE.UU.) —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FIN-2024-Alert004, "Fraud Schemes Involving Deepfake Media", 13 nov. 2024 (fincen.gov)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—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Mitigation Guide, actualización 2026 (cisa.gov)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/ NSA + socios internacionales —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"Careful Adoption of Agentic AI Services", 1 may. 2026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—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Framework y Generative AI Profile, AI 600-1 (nist.gov)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6791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del Tesoro de EE.UU. —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sobre detección de fraude con IA/ML y riesgos de ciberseguridad de IA en el sector financiero (home.treasury.gov)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1655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Criminal Investigation —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Report, año fiscal 2025 (irs.gov)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96519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OCDE —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"Governing with Artificial Intelligence in Government" (2025); G20 Roundtable on AI in Finance, jul. 2025 (oecd.org)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51383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· 2/2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Marcos técnicos y lecturas complementarias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 —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Threat Landscape for Artificial-Intelligence Systems, v5.1.0, nov. 2025 (atlas.mitre.org)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GenAI Security Project —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for Agentic Applications 2026, publicado 9 dic. 2025 (genai.owasp.org)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del sector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casos de fraude por deepfake y crecimiento de BEC asistido por IA, 2024-2026 (diversas firmas de ciberseguridad y aseguradoras)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Center, Software Engineering Institute —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Carnegie Mellon University (marco conceptual clásico de amenaza interna)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6791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Ofensiva — El nuevo paradigma del Insider en Gobierno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2026-09-30T15:52:13Z</dcterms:created>
  <dcterms:modified xsi:type="dcterms:W3CDTF">2026-09-30T15:52:13Z</dcterms:modified>
</cp:coreProperties>
</file>